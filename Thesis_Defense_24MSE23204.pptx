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70" r:id="rId21"/>
    <p:sldId id="271" r:id="rId22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1.xml"/><Relationship Id="rId22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A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AD7A0"/>
                </a:solidFill>
                <a:latin typeface="Calibri"/>
              </a:rPr>
              <a:t>MASTER OF SOFTWARE ENGINEERING — THESIS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Integrating Speech-to-Text and RVC-Based</a:t>
            </a:r>
          </a:p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Voice Conversion into an AI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Nguyen Hoang Ngoc Bao — 24MSE23204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5371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AED6F1"/>
                </a:solidFill>
                <a:latin typeface="Calibri"/>
              </a:rPr>
              <a:t>Supervisor: Dr. Nguyen Xuan Sam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AED6F1"/>
                </a:solidFill>
                <a:latin typeface="Calibri"/>
              </a:rPr>
              <a:t>FPT University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ED6F1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D6D7E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058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2000">
                <a:solidFill>
                  <a:srgbClr val="212121"/>
                </a:solidFill>
                <a:latin typeface="Calibri"/>
              </a:rPr>
              <a:t>•  1. Problem &amp; motivation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2000">
                <a:solidFill>
                  <a:srgbClr val="212121"/>
                </a:solidFill>
                <a:latin typeface="Calibri"/>
              </a:rPr>
              <a:t>•  2. Research objectives and questions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2000">
                <a:solidFill>
                  <a:srgbClr val="212121"/>
                </a:solidFill>
                <a:latin typeface="Calibri"/>
              </a:rPr>
              <a:t>•  3. Related work — why this combination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2000">
                <a:solidFill>
                  <a:srgbClr val="212121"/>
                </a:solidFill>
                <a:latin typeface="Calibri"/>
              </a:rPr>
              <a:t>•  4. Proposed solution &amp; architecture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2000">
                <a:solidFill>
                  <a:srgbClr val="212121"/>
                </a:solidFill>
                <a:latin typeface="Calibri"/>
              </a:rPr>
              <a:t>•  5. Implementation status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2000">
                <a:solidFill>
                  <a:srgbClr val="212121"/>
                </a:solidFill>
                <a:latin typeface="Calibri"/>
              </a:rPr>
              <a:t>•  6. Legal &amp; ethical compliance (new VN laws)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2000">
                <a:solidFill>
                  <a:srgbClr val="212121"/>
                </a:solidFill>
                <a:latin typeface="Calibri"/>
              </a:rPr>
              <a:t>•  7. Evaluation plan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2000">
                <a:solidFill>
                  <a:srgbClr val="212121"/>
                </a:solidFill>
                <a:latin typeface="Calibri"/>
              </a:rPr>
              <a:t>•  8. Expected results &amp; deliverables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ED6F1"/>
                </a:solidFill>
                <a:latin typeface="Calibri"/>
              </a:rPr>
              <a:t>1. 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A text-only RAG legal assistant is a bottleneck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D6D7E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6035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50">
                <a:solidFill>
                  <a:srgbClr val="212121"/>
                </a:solidFill>
                <a:latin typeface="Calibri"/>
              </a:rPr>
              <a:t>•  Existing system: ChromaDB + BGE embeddings + Llama-3.1 (Groq), Vietnamese enterprise law — works, but text only.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50">
                <a:solidFill>
                  <a:srgbClr val="212121"/>
                </a:solidFill>
                <a:latin typeface="Calibri"/>
              </a:rPr>
              <a:t>•  Users must type every question and read every answer.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50">
                <a:solidFill>
                  <a:srgbClr val="212121"/>
                </a:solidFill>
                <a:latin typeface="Calibri"/>
              </a:rPr>
              <a:t>•  Typing ≈ 40 wpm vs. speech ≈ 120–150 wpm.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50">
                <a:solidFill>
                  <a:srgbClr val="212121"/>
                </a:solidFill>
                <a:latin typeface="Calibri"/>
              </a:rPr>
              <a:t>•  Long legal answers on a phone screen: high cognitive load, poor accessibility.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50">
                <a:solidFill>
                  <a:srgbClr val="212121"/>
                </a:solidFill>
                <a:latin typeface="Calibri"/>
              </a:rPr>
              <a:t>•  Natural extension: add a voice loop on both sides — ASR in, personalised TTS/RVC out.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0" y="1463040"/>
          <a:ext cx="48463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05840"/>
                <a:gridCol w="1005840"/>
                <a:gridCol w="731520"/>
              </a:tblGrid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marL="50800" marR="50800" marT="25400" marB="25400" anchor="ctr"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Typing</a:t>
                      </a:r>
                    </a:p>
                  </a:txBody>
                  <a:tcPr marL="50800" marR="50800" marT="25400" marB="25400" anchor="ctr"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Dictation</a:t>
                      </a:r>
                    </a:p>
                  </a:txBody>
                  <a:tcPr marL="50800" marR="50800" marT="25400" marB="25400" anchor="ctr"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Saved</a:t>
                      </a:r>
                    </a:p>
                  </a:txBody>
                  <a:tcPr marL="50800" marR="50800" marT="25400" marB="25400" anchor="ctr">
                    <a:solidFill>
                      <a:srgbClr val="1B2B3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12121"/>
                          </a:solidFill>
                          <a:latin typeface="Calibri"/>
                        </a:rPr>
                        <a:t>500-word email</a:t>
                      </a:r>
                    </a:p>
                  </a:txBody>
                  <a:tcPr marL="50800" marR="50800" marT="25400" marB="25400" anchor="ctr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121"/>
                          </a:solidFill>
                          <a:latin typeface="Calibri"/>
                        </a:rPr>
                        <a:t>12.5 min</a:t>
                      </a:r>
                    </a:p>
                  </a:txBody>
                  <a:tcPr marL="50800" marR="50800" marT="25400" marB="25400" anchor="ctr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121"/>
                          </a:solidFill>
                          <a:latin typeface="Calibri"/>
                        </a:rPr>
                        <a:t>4 min</a:t>
                      </a:r>
                    </a:p>
                  </a:txBody>
                  <a:tcPr marL="50800" marR="50800" marT="25400" marB="25400" anchor="ctr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121"/>
                          </a:solidFill>
                          <a:latin typeface="Calibri"/>
                        </a:rPr>
                        <a:t>68%</a:t>
                      </a:r>
                    </a:p>
                  </a:txBody>
                  <a:tcPr marL="50800" marR="50800" marT="25400" marB="25400" anchor="ctr">
                    <a:solidFill>
                      <a:srgbClr val="F4F6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12121"/>
                          </a:solidFill>
                          <a:latin typeface="Calibri"/>
                        </a:rPr>
                        <a:t>1,000-word report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121"/>
                          </a:solidFill>
                          <a:latin typeface="Calibri"/>
                        </a:rPr>
                        <a:t>25 min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121"/>
                          </a:solidFill>
                          <a:latin typeface="Calibri"/>
                        </a:rPr>
                        <a:t>8 min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121"/>
                          </a:solidFill>
                          <a:latin typeface="Calibri"/>
                        </a:rPr>
                        <a:t>68%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12121"/>
                          </a:solidFill>
                          <a:latin typeface="Calibri"/>
                        </a:rPr>
                        <a:t>2,000-word article</a:t>
                      </a:r>
                    </a:p>
                  </a:txBody>
                  <a:tcPr marL="50800" marR="50800" marT="25400" marB="25400" anchor="ctr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121"/>
                          </a:solidFill>
                          <a:latin typeface="Calibri"/>
                        </a:rPr>
                        <a:t>50 min</a:t>
                      </a:r>
                    </a:p>
                  </a:txBody>
                  <a:tcPr marL="50800" marR="50800" marT="25400" marB="25400" anchor="ctr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121"/>
                          </a:solidFill>
                          <a:latin typeface="Calibri"/>
                        </a:rPr>
                        <a:t>17 min</a:t>
                      </a:r>
                    </a:p>
                  </a:txBody>
                  <a:tcPr marL="50800" marR="50800" marT="25400" marB="25400" anchor="ctr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121"/>
                          </a:solidFill>
                          <a:latin typeface="Calibri"/>
                        </a:rPr>
                        <a:t>66%</a:t>
                      </a:r>
                    </a:p>
                  </a:txBody>
                  <a:tcPr marL="50800" marR="50800" marT="25400" marB="25400" anchor="ctr">
                    <a:solidFill>
                      <a:srgbClr val="F4F6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12121"/>
                          </a:solidFill>
                          <a:latin typeface="Calibri"/>
                        </a:rPr>
                        <a:t>5,000-word document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121"/>
                          </a:solidFill>
                          <a:latin typeface="Calibri"/>
                        </a:rPr>
                        <a:t>125 min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121"/>
                          </a:solidFill>
                          <a:latin typeface="Calibri"/>
                        </a:rPr>
                        <a:t>42 min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121"/>
                          </a:solidFill>
                          <a:latin typeface="Calibri"/>
                        </a:rPr>
                        <a:t>66%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0" y="47091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5D6D7E"/>
                </a:solidFill>
                <a:latin typeface="Calibri"/>
              </a:rPr>
              <a:t>Estimated, adapted from prior speech-input productivity studies [1]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ED6F1"/>
                </a:solidFill>
                <a:latin typeface="Calibri"/>
              </a:rPr>
              <a:t>2. RESEARCH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Objectives and research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D6D7E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86C1"/>
                </a:solidFill>
                <a:latin typeface="Calibri"/>
              </a:rP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3949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>
                <a:solidFill>
                  <a:srgbClr val="212121"/>
                </a:solidFill>
                <a:latin typeface="Calibri"/>
              </a:rPr>
              <a:t>•  Integrate speech-to-text (PhoWhisper, local Whisper fallback) so users can ask by voice in Vietnamese.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>
                <a:solidFill>
                  <a:srgbClr val="212121"/>
                </a:solidFill>
                <a:latin typeface="Calibri"/>
              </a:rPr>
              <a:t>•  Train a custom RVC voice-conversion model on Google Colab and integrate it into the response pipeline.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>
                <a:solidFill>
                  <a:srgbClr val="212121"/>
                </a:solidFill>
                <a:latin typeface="Calibri"/>
              </a:rPr>
              <a:t>•  Compare TTS+RVC against a zero-shot baseline (F5-TTS-Vietnamese-ViVoice).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>
                <a:solidFill>
                  <a:srgbClr val="212121"/>
                </a:solidFill>
                <a:latin typeface="Calibri"/>
              </a:rPr>
              <a:t>•  Evaluate on objective (latency, WER, SNR) and subjective (MOS) metrics.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37160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A6F1E"/>
                </a:solidFill>
                <a:latin typeface="Calibri"/>
              </a:rPr>
              <a:t>Research Questions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783080"/>
            <a:ext cx="685800" cy="384048"/>
          </a:xfrm>
          <a:prstGeom prst="rect">
            <a:avLst/>
          </a:prstGeom>
          <a:solidFill>
            <a:srgbClr val="CA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685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37360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12121"/>
                </a:solidFill>
                <a:latin typeface="Calibri"/>
              </a:rPr>
              <a:t>How can an RVC model trained on Colab be integrated into a production RAG assistant without rewriting the retrieval pipeline?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953512"/>
            <a:ext cx="685800" cy="384048"/>
          </a:xfrm>
          <a:prstGeom prst="rect">
            <a:avLst/>
          </a:prstGeom>
          <a:solidFill>
            <a:srgbClr val="CA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953512"/>
            <a:ext cx="685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907792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12121"/>
                </a:solidFill>
                <a:latin typeface="Calibri"/>
              </a:rPr>
              <a:t>Does TTS + RVC outperform a zero-shot baseline (F5-TTS-Vietnamese-ViVoice) in MOS naturalness and speaker similarity?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4123944"/>
            <a:ext cx="685800" cy="384048"/>
          </a:xfrm>
          <a:prstGeom prst="rect">
            <a:avLst/>
          </a:prstGeom>
          <a:solidFill>
            <a:srgbClr val="CA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4123944"/>
            <a:ext cx="685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4078224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12121"/>
                </a:solidFill>
                <a:latin typeface="Calibri"/>
              </a:rPr>
              <a:t>What latency does voice add, and is it still ≤ 4 s end-to-end?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ED6F1"/>
                </a:solidFill>
                <a:latin typeface="Calibri"/>
              </a:rPr>
              <a:t>3. 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Why this combination: RVC + F5-TTS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D6D7E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55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743200"/>
                <a:gridCol w="3108960"/>
                <a:gridCol w="2926080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</a:rPr>
                        <a:t>Criterion</a:t>
                      </a:r>
                    </a:p>
                  </a:txBody>
                  <a:tcPr anchor="ctr" marL="76200" marT="38100" marB="38100"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Classical TTS</a:t>
                      </a:r>
                    </a:p>
                  </a:txBody>
                  <a:tcPr anchor="ctr" marL="76200" marT="38100" marB="38100"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TTS + RVC (this work)</a:t>
                      </a:r>
                    </a:p>
                  </a:txBody>
                  <a:tcPr anchor="ctr" marL="76200" marT="38100" marB="38100"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Zero-shot cloning</a:t>
                      </a:r>
                    </a:p>
                  </a:txBody>
                  <a:tcPr anchor="ctr" marL="76200" marT="38100" marB="38100">
                    <a:solidFill>
                      <a:srgbClr val="1B2B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12121"/>
                          </a:solidFill>
                        </a:rPr>
                        <a:t>Naturalness</a:t>
                      </a:r>
                    </a:p>
                  </a:txBody>
                  <a:tcPr anchor="ctr" marL="76200" marT="38100" marB="38100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12121"/>
                          </a:solidFill>
                        </a:rPr>
                        <a:t>Robotic</a:t>
                      </a:r>
                    </a:p>
                  </a:txBody>
                  <a:tcPr anchor="ctr" marL="76200" marT="38100" marB="38100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29954"/>
                          </a:solidFill>
                        </a:rPr>
                        <a:t>Natural, target timbre</a:t>
                      </a:r>
                    </a:p>
                  </a:txBody>
                  <a:tcPr anchor="ctr" marL="76200" marT="38100" marB="38100">
                    <a:solidFill>
                      <a:srgbClr val="EAF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12121"/>
                          </a:solidFill>
                        </a:rPr>
                        <a:t>Natural, generic</a:t>
                      </a:r>
                    </a:p>
                  </a:txBody>
                  <a:tcPr anchor="ctr" marL="76200" marT="38100" marB="38100">
                    <a:solidFill>
                      <a:srgbClr val="F4F6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12121"/>
                          </a:solidFill>
                        </a:rPr>
                        <a:t>Personalisation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12121"/>
                          </a:solidFill>
                        </a:rPr>
                        <a:t>Limited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29954"/>
                          </a:solidFill>
                        </a:rPr>
                        <a:t>High (per-speaker)</a:t>
                      </a:r>
                    </a:p>
                  </a:txBody>
                  <a:tcPr anchor="ctr" marL="76200" marT="38100" marB="38100">
                    <a:solidFill>
                      <a:srgbClr val="EAF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12121"/>
                          </a:solidFill>
                        </a:rPr>
                        <a:t>Medium (zero-shot)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12121"/>
                          </a:solidFill>
                        </a:rPr>
                        <a:t>Training cost</a:t>
                      </a:r>
                    </a:p>
                  </a:txBody>
                  <a:tcPr anchor="ctr" marL="76200" marT="38100" marB="38100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12121"/>
                          </a:solidFill>
                        </a:rPr>
                        <a:t>None</a:t>
                      </a:r>
                    </a:p>
                  </a:txBody>
                  <a:tcPr anchor="ctr" marL="76200" marT="38100" marB="38100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29954"/>
                          </a:solidFill>
                        </a:rPr>
                        <a:t>10–30 min (Colab)</a:t>
                      </a:r>
                    </a:p>
                  </a:txBody>
                  <a:tcPr anchor="ctr" marL="76200" marT="38100" marB="38100">
                    <a:solidFill>
                      <a:srgbClr val="EAF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12121"/>
                          </a:solidFill>
                        </a:rPr>
                        <a:t>None</a:t>
                      </a:r>
                    </a:p>
                  </a:txBody>
                  <a:tcPr anchor="ctr" marL="76200" marT="38100" marB="38100">
                    <a:solidFill>
                      <a:srgbClr val="F4F6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12121"/>
                          </a:solidFill>
                        </a:rPr>
                        <a:t>Latency (CPU)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12121"/>
                          </a:solidFill>
                        </a:rPr>
                        <a:t>≈ 0.5 s/sentence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229954"/>
                          </a:solidFill>
                        </a:rPr>
                        <a:t>≈ 1.5 s/sentence</a:t>
                      </a:r>
                    </a:p>
                  </a:txBody>
                  <a:tcPr anchor="ctr" marL="76200" marT="38100" marB="38100">
                    <a:solidFill>
                      <a:srgbClr val="EAF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12121"/>
                          </a:solidFill>
                        </a:rPr>
                        <a:t>≈ 1.0 s/sentence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886200"/>
            <a:ext cx="111556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212121"/>
                </a:solidFill>
                <a:latin typeface="Calibri"/>
              </a:rPr>
              <a:t>•  RVC v2 (HuBERT + HiFi-GAN + FAISS): best timbre when ≈ 10 min of reference data is available; the per-speaker training step is itself an evaluation point — does it beat zero-shot cloning?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212121"/>
                </a:solidFill>
                <a:latin typeface="Calibri"/>
              </a:rPr>
              <a:t>•  F5-TTS-Vietnamese-ViVoice chosen as baseline over XTTS-v2 / OpenVoice: already fine-tuned on Vietnamese speech → fairer comparison on a Vietnamese-only legal test set.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212121"/>
                </a:solidFill>
                <a:latin typeface="Calibri"/>
              </a:rPr>
              <a:t>•  ASR: PhoWhisper (VinAI, 17–24% relative WER reduction over multilingual Whisper on Vietnamese) as primary, local Whisper-small as offline fallback.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ED6F1"/>
                </a:solidFill>
                <a:latin typeface="Calibri"/>
              </a:rPr>
              <a:t>4.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A bidirectional voice loop, built as a separate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D6D7E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86C1"/>
                </a:solidFill>
                <a:latin typeface="Calibri"/>
              </a:rPr>
              <a:t>Input 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3035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>
                <a:solidFill>
                  <a:srgbClr val="212121"/>
                </a:solidFill>
                <a:latin typeface="Calibri"/>
              </a:rPr>
              <a:t>•  Browser mic records the question.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>
                <a:solidFill>
                  <a:srgbClr val="212121"/>
                </a:solidFill>
                <a:latin typeface="Calibri"/>
              </a:rPr>
              <a:t>•  Sent to clone-voice-station → transcribed by PhoWhisper (Whisper fallback).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>
                <a:solidFill>
                  <a:srgbClr val="212121"/>
                </a:solidFill>
                <a:latin typeface="Calibri"/>
              </a:rPr>
              <a:t>•  Resulting text forwarded to rag-legal-assistant's existing RAG pipeline, unchanged.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3716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A6F1E"/>
                </a:solidFill>
                <a:latin typeface="Calibri"/>
              </a:rPr>
              <a:t>Output 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83080"/>
            <a:ext cx="53949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>
                <a:solidFill>
                  <a:srgbClr val="212121"/>
                </a:solidFill>
                <a:latin typeface="Calibri"/>
              </a:rPr>
              <a:t>•  LLM answer text → edge-TTS base Vietnamese WAV.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>
                <a:solidFill>
                  <a:srgbClr val="212121"/>
                </a:solidFill>
                <a:latin typeface="Calibri"/>
              </a:rPr>
              <a:t>•  Re-voiced with the user's trained RVC model.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>
                <a:solidFill>
                  <a:srgbClr val="212121"/>
                </a:solidFill>
                <a:latin typeface="Calibri"/>
              </a:rPr>
              <a:t>•  Prefixed with an AI-disclosure notice + provenance watermark.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>
                <a:solidFill>
                  <a:srgbClr val="212121"/>
                </a:solidFill>
                <a:latin typeface="Calibri"/>
              </a:rPr>
              <a:t>•  Streamed back to the browser as playable audio.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343400"/>
            <a:ext cx="11155680" cy="1417320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1">
                <a:solidFill>
                  <a:srgbClr val="1B2B3A"/>
                </a:solidFill>
                <a:latin typeface="Calibri"/>
              </a:rPr>
              <a:t>Voice features are opt-in — the assistant degrades gracefully to text-only mode, and clone-voice-station itself falls back to plain TTS whenever the Colab-hosted RVC/PhoWhisper session is offline.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ED6F1"/>
                </a:solidFill>
                <a:latin typeface="Calibri"/>
              </a:rPr>
              <a:t>4.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High-level pipeline (6 measurable stages)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D6D7E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figure1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11155680" cy="39999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5D6D7E"/>
                </a:solidFill>
                <a:latin typeface="Calibri"/>
              </a:rPr>
              <a:t>Figure 1: LLM and RAG are surfaced as separate, independently benchmarkable sub-components.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ED6F1"/>
                </a:solidFill>
                <a:latin typeface="Calibri"/>
              </a:rPr>
              <a:t>4.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Software architecture — 3 independent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D6D7E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figure2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095" y="1234440"/>
            <a:ext cx="8372698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5D6D7E"/>
                </a:solidFill>
                <a:latin typeface="Calibri"/>
              </a:rPr>
              <a:t>rag-legal-assistant ↔ clone-voice-client SDK ↔ clone-voice-station ↔ Colab (PhoWhisper / F5-TTS / RVC v2)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ED6F1"/>
                </a:solidFill>
                <a:latin typeface="Calibri"/>
              </a:rPr>
              <a:t>4.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D6D7E"/>
                </a:solidFill>
                <a:latin typeface="Calibri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71600"/>
          <a:ext cx="1051560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138160"/>
              </a:tblGrid>
              <a:tr h="50749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anchor="ctr" marL="101600" marT="50800" marB="50800"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 anchor="ctr" marL="101600" marT="50800" marB="50800">
                    <a:solidFill>
                      <a:srgbClr val="1B2B3A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E86C1"/>
                          </a:solidFill>
                        </a:rPr>
                        <a:t>Application</a:t>
                      </a:r>
                    </a:p>
                  </a:txBody>
                  <a:tcPr anchor="ctr" marL="101600" marT="50800" marB="50800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12121"/>
                          </a:solidFill>
                        </a:rPr>
                        <a:t>FastAPI, Starlette, Jinja2, vanilla JS, MediaRecorder</a:t>
                      </a:r>
                    </a:p>
                  </a:txBody>
                  <a:tcPr anchor="ctr" marL="101600" marT="50800" marB="50800">
                    <a:solidFill>
                      <a:srgbClr val="F4F6F6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E86C1"/>
                          </a:solidFill>
                        </a:rPr>
                        <a:t>LLM</a:t>
                      </a:r>
                    </a:p>
                  </a:txBody>
                  <a:tcPr anchor="ctr" marL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12121"/>
                          </a:solidFill>
                        </a:rPr>
                        <a:t>Meta Llama-3.1-8B-Instant via Groq API</a:t>
                      </a:r>
                    </a:p>
                  </a:txBody>
                  <a:tcPr anchor="ctr" marL="101600" marT="50800" marB="50800"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E86C1"/>
                          </a:solidFill>
                        </a:rPr>
                        <a:t>RAG</a:t>
                      </a:r>
                    </a:p>
                  </a:txBody>
                  <a:tcPr anchor="ctr" marL="101600" marT="50800" marB="50800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12121"/>
                          </a:solidFill>
                        </a:rPr>
                        <a:t>LangChain, BGE-small-en-v1.5, ChromaDB</a:t>
                      </a:r>
                    </a:p>
                  </a:txBody>
                  <a:tcPr anchor="ctr" marL="101600" marT="50800" marB="50800">
                    <a:solidFill>
                      <a:srgbClr val="F4F6F6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E86C1"/>
                          </a:solidFill>
                        </a:rPr>
                        <a:t>ASR</a:t>
                      </a:r>
                    </a:p>
                  </a:txBody>
                  <a:tcPr anchor="ctr" marL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12121"/>
                          </a:solidFill>
                        </a:rPr>
                        <a:t>PhoWhisper-large (Colab, primary) / Whisper-small (local fallback)</a:t>
                      </a:r>
                    </a:p>
                  </a:txBody>
                  <a:tcPr anchor="ctr" marL="101600" marT="50800" marB="50800"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E86C1"/>
                          </a:solidFill>
                        </a:rPr>
                        <a:t>TTS</a:t>
                      </a:r>
                    </a:p>
                  </a:txBody>
                  <a:tcPr anchor="ctr" marL="101600" marT="50800" marB="50800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12121"/>
                          </a:solidFill>
                        </a:rPr>
                        <a:t>edge-TTS — vi-VN-HoaiMyNeural / vi-VN-NamMinhNeural</a:t>
                      </a:r>
                    </a:p>
                  </a:txBody>
                  <a:tcPr anchor="ctr" marL="101600" marT="50800" marB="50800">
                    <a:solidFill>
                      <a:srgbClr val="F4F6F6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E86C1"/>
                          </a:solidFill>
                        </a:rPr>
                        <a:t>RVC</a:t>
                      </a:r>
                    </a:p>
                  </a:txBody>
                  <a:tcPr anchor="ctr" marL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12121"/>
                          </a:solidFill>
                        </a:rPr>
                        <a:t>RVC v2 — HuBERT + HiFi-GAN + FAISS, trained on Colab T4</a:t>
                      </a:r>
                    </a:p>
                  </a:txBody>
                  <a:tcPr anchor="ctr" marL="101600" marT="50800" marB="50800"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E86C1"/>
                          </a:solidFill>
                        </a:rPr>
                        <a:t>Baseline</a:t>
                      </a:r>
                    </a:p>
                  </a:txBody>
                  <a:tcPr anchor="ctr" marL="101600" marT="50800" marB="50800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12121"/>
                          </a:solidFill>
                        </a:rPr>
                        <a:t>F5-TTS-Vietnamese-ViVoice (zero-shot, RQ2 comparison)</a:t>
                      </a:r>
                    </a:p>
                  </a:txBody>
                  <a:tcPr anchor="ctr" marL="101600" marT="50800" marB="50800">
                    <a:solidFill>
                      <a:srgbClr val="F4F6F6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E86C1"/>
                          </a:solidFill>
                        </a:rPr>
                        <a:t>Voice architecture</a:t>
                      </a:r>
                    </a:p>
                  </a:txBody>
                  <a:tcPr anchor="ctr" marL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12121"/>
                          </a:solidFill>
                        </a:rPr>
                        <a:t>clone-voice-station (FastAPI, SQLite, API-key) + clone-voice-client (SDK)</a:t>
                      </a:r>
                    </a:p>
                  </a:txBody>
                  <a:tcPr anchor="ctr" marL="101600" marT="50800" marB="50800"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E86C1"/>
                          </a:solidFill>
                        </a:rPr>
                        <a:t>Compliance</a:t>
                      </a:r>
                    </a:p>
                  </a:txBody>
                  <a:tcPr anchor="ctr" marL="101600" marT="50800" marB="50800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12121"/>
                          </a:solidFill>
                        </a:rPr>
                        <a:t>Spoken AI-disclosure prefix + WAV provenance watermark</a:t>
                      </a:r>
                    </a:p>
                  </a:txBody>
                  <a:tcPr anchor="ctr" marL="101600" marT="50800" marB="50800">
                    <a:solidFill>
                      <a:srgbClr val="F4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ED6F1"/>
                </a:solidFill>
                <a:latin typeface="Calibri"/>
              </a:rPr>
              <a:t>5. IMPLEMENTATION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Four of five stages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D6D7E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384048" cy="384048"/>
          </a:xfrm>
          <a:prstGeom prst="rect">
            <a:avLst/>
          </a:prstGeom>
          <a:solidFill>
            <a:srgbClr val="229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81328"/>
            <a:ext cx="5577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12121"/>
                </a:solidFill>
                <a:latin typeface="Calibri"/>
              </a:rPr>
              <a:t>Voice dataset preparation — 8 scripts + browser recording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66544"/>
            <a:ext cx="384048" cy="384048"/>
          </a:xfrm>
          <a:prstGeom prst="rect">
            <a:avLst/>
          </a:prstGeom>
          <a:solidFill>
            <a:srgbClr val="229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665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84832"/>
            <a:ext cx="5577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12121"/>
                </a:solidFill>
                <a:latin typeface="Calibri"/>
              </a:rPr>
              <a:t>RVC training on Colab — F0/RMVPE, RVC v2, FAISS index, export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70048"/>
            <a:ext cx="384048" cy="384048"/>
          </a:xfrm>
          <a:prstGeom prst="rect">
            <a:avLst/>
          </a:prstGeom>
          <a:solidFill>
            <a:srgbClr val="229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700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88336"/>
            <a:ext cx="5577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12121"/>
                </a:solidFill>
                <a:latin typeface="Calibri"/>
              </a:rPr>
              <a:t>Backend integration — /api/transcribe, /api/speak, SDK adapter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273552"/>
            <a:ext cx="384048" cy="384048"/>
          </a:xfrm>
          <a:prstGeom prst="rect">
            <a:avLst/>
          </a:prstGeom>
          <a:solidFill>
            <a:srgbClr val="229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27355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291840"/>
            <a:ext cx="5577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12121"/>
                </a:solidFill>
                <a:latin typeface="Calibri"/>
              </a:rPr>
              <a:t>Frontend integration — mic button + voice-output toggle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877056"/>
            <a:ext cx="384048" cy="384048"/>
          </a:xfrm>
          <a:prstGeom prst="rect">
            <a:avLst/>
          </a:prstGeom>
          <a:solidFill>
            <a:srgbClr val="CA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87705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95344"/>
            <a:ext cx="5577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212121"/>
                </a:solidFill>
                <a:latin typeface="Calibri"/>
              </a:rPr>
              <a:t>Evaluation &amp; write-up — metrics, MOS survey, manuscript</a:t>
            </a:r>
          </a:p>
        </p:txBody>
      </p:sp>
      <p:pic>
        <p:nvPicPr>
          <p:cNvPr id="21" name="Picture 20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480560"/>
            <a:ext cx="11155680" cy="15978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ED6F1"/>
                </a:solidFill>
                <a:latin typeface="Calibri"/>
              </a:rPr>
              <a:t>5. IMPLEMENTATION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Continued implementation — voice reliability &amp; live transcription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D6D7E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86C1"/>
                </a:solidFill>
                <a:latin typeface="Calibri"/>
              </a:rPr>
              <a:t>Voice-service reliability fix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3035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>
                <a:solidFill>
                  <a:srgbClr val="212121"/>
                </a:solidFill>
                <a:latin typeface="Calibri"/>
              </a:rPr>
              <a:t>•  Diagnosed: clone-voice-station wasn't running, so profile lookups silently returned an empty list.</a:t>
            </a:r>
          </a:p>
          <a:p>
            <a:r>
              <a:rPr sz="1550">
                <a:solidFill>
                  <a:srgbClr val="212121"/>
                </a:solidFill>
                <a:latin typeface="Calibri"/>
              </a:rPr>
              <a:t>•  Added GET /voice/status (VoiceStationClient.is_available()) so the UI can tell “no voices yet” from “service is down”.</a:t>
            </a:r>
          </a:p>
          <a:p>
            <a:r>
              <a:rPr sz="1550">
                <a:solidFill>
                  <a:srgbClr val="212121"/>
                </a:solidFill>
                <a:latin typeface="Calibri"/>
              </a:rPr>
              <a:t>•  Added start_all.bat to launch clone-voice-station then rag-legal-assistant together, health-checked.</a:t>
            </a:r>
          </a:p>
          <a:p>
            <a:r>
              <a:rPr sz="1550">
                <a:solidFill>
                  <a:srgbClr val="212121"/>
                </a:solidFill>
                <a:latin typeface="Calibri"/>
              </a:rPr>
              <a:t>•  2026-08-12: found and fixed a session-identity leak — manager and STT Lab guest login shared one cookie, so a manager could silently resolve as a guest whose account they'd also logged into in the same browser.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3716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A6F1E"/>
                </a:solidFill>
                <a:latin typeface="Calibri"/>
              </a:rPr>
              <a:t>Live speech-to-text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83080"/>
            <a:ext cx="53949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>
                <a:solidFill>
                  <a:srgbClr val="212121"/>
                </a:solidFill>
                <a:latin typeface="Calibri"/>
              </a:rPr>
              <a:t>•  MediaRecorder now captures audio in 500 ms chunks instead of one shot.</a:t>
            </a:r>
          </a:p>
          <a:p>
            <a:r>
              <a:rPr sz="1550">
                <a:solidFill>
                  <a:srgbClr val="212121"/>
                </a:solidFill>
                <a:latin typeface="Calibri"/>
              </a:rPr>
              <a:t>•  Live tick cadence is now local/remote-aware, not a flat 2.5 s: 1 s while running Whisper in-process (local), 2 s when calling clone-voice-station remotely — decided fresh via /voice/status at the start of every recording.</a:t>
            </a:r>
          </a:p>
          <a:p>
            <a:r>
              <a:rPr sz="1550">
                <a:solidFill>
                  <a:srgbClr val="212121"/>
                </a:solidFill>
                <a:latin typeface="Calibri"/>
              </a:rPr>
              <a:t>•  2026-08-12: admin can upload a .stt-pack.zip from STT Lab and toggle transcription to run locally in rag-legal-assistant itself — verified end to end with zero requests reaching clone-voice-station.</a:t>
            </a:r>
          </a:p>
          <a:p>
            <a:r>
              <a:rPr sz="1550">
                <a:solidFill>
                  <a:srgbClr val="212121"/>
                </a:solidFill>
                <a:latin typeface="Calibri"/>
              </a:rPr>
              <a:t>•  Same local/remote-aware live-transcribe brought to voice-lab-example's main chat demo the same day, closing the gap with its own /compare page.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343400"/>
            <a:ext cx="11155680" cy="1417320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1">
                <a:solidFill>
                  <a:srgbClr val="1B2B3A"/>
                </a:solidFill>
                <a:latin typeface="Calibri"/>
              </a:rPr>
              <a:t>Both fixes ship at the frontend/integration layer only — no changes were needed to clone-voice-station's API surface, matching the split-service architecture's design goal of independent iteration.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ED6F1"/>
                </a:solidFill>
                <a:latin typeface="Calibri"/>
              </a:rPr>
              <a:t>5. IMPLEMENTATION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STT Lab Tier 2 — adapter-acceptance gate for self-serve fine-tuning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D6D7E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86C1"/>
                </a:solidFill>
                <a:latin typeface="Calibri"/>
              </a:rPr>
              <a:t>Validation-gate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303520" cy="21031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>
                <a:solidFill>
                  <a:srgbClr val="212121"/>
                </a:solidFill>
                <a:latin typeface="Calibri"/>
              </a:rPr>
              <a:t>•  Naive shipping of the last epoch measurably worsened recognition: 62.8% WER vs base’s own 32.0% on the same held-out audio.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>
                <a:solidFill>
                  <a:srgbClr val="212121"/>
                </a:solidFill>
                <a:latin typeface="Calibri"/>
              </a:rPr>
              <a:t>•  The held-out gate was itself fooled: adapters accepted as “9–15pp better” internally still lost 20–27pp on an independent eval set, twice.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>
                <a:solidFill>
                  <a:srgbClr val="212121"/>
                </a:solidFill>
                <a:latin typeface="Calibri"/>
              </a:rPr>
              <a:t>•  Cause: any split from one guest’s own upload shares that batch’s recording/speaker/domain traits, regardless of split size.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3716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A6F1E"/>
                </a:solidFill>
                <a:latin typeface="Calibri"/>
              </a:rPr>
              <a:t>Three-gate fix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83080"/>
            <a:ext cx="5394960" cy="2377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>
                <a:solidFill>
                  <a:srgbClr val="212121"/>
                </a:solidFill>
                <a:latin typeface="Calibri"/>
              </a:rPr>
              <a:t>•  Gate 0/1: separate early-stopping and final-gate splits remove the double-dipping bias (one split picking the epoch AND judging accept/reject).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>
                <a:solidFill>
                  <a:srgbClr val="212121"/>
                </a:solidFill>
                <a:latin typeface="Calibri"/>
              </a:rPr>
              <a:t>•  Gate 2: score every adapter against a fixed 500-clip general-Vietnamese benchmark no guest’s data ever touches.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>
                <a:solidFill>
                  <a:srgbClr val="212121"/>
                </a:solidFill>
                <a:latin typeface="Calibri"/>
              </a:rPr>
              <a:t>•  Real case: a 60-sample adapter cleared Gate 1 (52.0% vs 60.2% base) but was rejected by Gate 2 (47.6% vs 44.4% base).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>
                <a:solidFill>
                  <a:srgbClr val="212121"/>
                </a:solidFill>
                <a:latin typeface="Calibri"/>
              </a:rPr>
              <a:t>•  No adapter has yet beaten base on independent data — the pipeline still guarantees none ship regardless.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343400"/>
            <a:ext cx="11155680" cy="1417320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550" b="0" i="1">
                <a:solidFill>
                  <a:srgbClr val="1B2B3A"/>
                </a:solidFill>
                <a:latin typeface="Calibri"/>
              </a:rPr>
              <a:t>Not yet a proven quality improvement over base Whisper — but a self-serve fine-tuning pipeline that is provably safe to expose publicly, since it never ships a regression.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ED6F1"/>
                </a:solidFill>
                <a:latin typeface="Calibri"/>
              </a:rPr>
              <a:t>6. LEGAL &amp; ETHICAL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Two Vietnamese laws that took effect during this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D6D7E"/>
                </a:solidFill>
                <a:latin typeface="Calibr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5394960" cy="594360"/>
          </a:xfrm>
          <a:prstGeom prst="rect">
            <a:avLst/>
          </a:prstGeom>
          <a:solidFill>
            <a:srgbClr val="FDE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CA6F1E"/>
                </a:solidFill>
                <a:latin typeface="Calibri"/>
              </a:rPr>
              <a:t>Law 91/2025/QH15 — Personal Data Protection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40280"/>
            <a:ext cx="53949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>
                <a:solidFill>
                  <a:srgbClr val="212121"/>
                </a:solidFill>
                <a:latin typeface="Calibri"/>
              </a:rPr>
              <a:t>•  Voice sample + trained RVC model = biometric data.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>
                <a:solidFill>
                  <a:srgbClr val="212121"/>
                </a:solidFill>
                <a:latin typeface="Calibri"/>
              </a:rPr>
              <a:t>•  Consent screen names biometric use + cross-border transfer to Colab.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>
                <a:solidFill>
                  <a:srgbClr val="212121"/>
                </a:solidFill>
                <a:latin typeface="Calibri"/>
              </a:rPr>
              <a:t>•  Every profile/sample/model deletable on demand.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>
                <a:solidFill>
                  <a:srgbClr val="212121"/>
                </a:solidFill>
                <a:latin typeface="Calibri"/>
              </a:rPr>
              <a:t>•  Data scoped per client app + per external_user_id in the DB.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63040"/>
            <a:ext cx="5394960" cy="594360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3619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2E86C1"/>
                </a:solidFill>
                <a:latin typeface="Calibri"/>
              </a:rPr>
              <a:t>Law 134/2025/QH15 — Artificial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240280"/>
            <a:ext cx="53949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>
                <a:solidFill>
                  <a:srgbClr val="212121"/>
                </a:solidFill>
                <a:latin typeface="Calibri"/>
              </a:rPr>
              <a:t>•  AI-generated voice must carry a spoken disclosure notice + watermark.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>
                <a:solidFill>
                  <a:srgbClr val="212121"/>
                </a:solidFill>
                <a:latin typeface="Calibri"/>
              </a:rPr>
              <a:t>•  clone-voice-station prefixes every RVC-cloned response with a Vietnamese disclosure clip.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>
                <a:solidFill>
                  <a:srgbClr val="212121"/>
                </a:solidFill>
                <a:latin typeface="Calibri"/>
              </a:rPr>
              <a:t>•  Exported WAV carries a provenance tag in its metadata.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>
                <a:solidFill>
                  <a:srgbClr val="212121"/>
                </a:solidFill>
                <a:latin typeface="Calibri"/>
              </a:rPr>
              <a:t>•  Builtin (non-cloned) voices are exempt — no real-person impersonation.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ED6F1"/>
                </a:solidFill>
                <a:latin typeface="Calibri"/>
              </a:rPr>
              <a:t>7. EVALUATION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Objective + subjective metrics per pipeline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D6D7E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1">
                <a:solidFill>
                  <a:srgbClr val="5D6D7E"/>
                </a:solidFill>
                <a:latin typeface="Calibri"/>
              </a:rPr>
              <a:t>Fixed test set: 30 Vietnamese legal questions with expert-curated reference answers.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111556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840480"/>
                <a:gridCol w="2194560"/>
                <a:gridCol w="2743200"/>
              </a:tblGrid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anchor="ctr" marL="101600" marT="50800" marB="50800"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anchor="ctr" marL="101600" marT="50800" marB="50800"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anchor="ctr" marL="101600" marT="50800" marB="50800"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Threshold</a:t>
                      </a:r>
                    </a:p>
                  </a:txBody>
                  <a:tcPr anchor="ctr" marL="101600" marT="50800" marB="50800">
                    <a:solidFill>
                      <a:srgbClr val="1B2B3A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121"/>
                          </a:solidFill>
                        </a:rPr>
                        <a:t>ASR</a:t>
                      </a:r>
                    </a:p>
                  </a:txBody>
                  <a:tcPr anchor="ctr" marL="101600" marT="50800" marB="50800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</a:rPr>
                        <a:t>Word Error Rate</a:t>
                      </a:r>
                    </a:p>
                  </a:txBody>
                  <a:tcPr anchor="ctr" marL="101600" marT="50800" marB="50800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</a:rPr>
                        <a:t>Objective</a:t>
                      </a:r>
                    </a:p>
                  </a:txBody>
                  <a:tcPr anchor="ctr" marL="101600" marT="50800" marB="50800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</a:rPr>
                        <a:t>≤ 15%</a:t>
                      </a:r>
                    </a:p>
                  </a:txBody>
                  <a:tcPr anchor="ctr" marL="101600" marT="50800" marB="50800">
                    <a:solidFill>
                      <a:srgbClr val="F4F6F6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121"/>
                          </a:solidFill>
                        </a:rPr>
                        <a:t>LLM + RAG</a:t>
                      </a:r>
                    </a:p>
                  </a:txBody>
                  <a:tcPr anchor="ctr" marL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</a:rPr>
                        <a:t>Faithfulness (Likert)</a:t>
                      </a:r>
                    </a:p>
                  </a:txBody>
                  <a:tcPr anchor="ctr" marL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</a:rPr>
                        <a:t>Subjective</a:t>
                      </a:r>
                    </a:p>
                  </a:txBody>
                  <a:tcPr anchor="ctr" marL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</a:rPr>
                        <a:t>Mean ≥ 4.0</a:t>
                      </a:r>
                    </a:p>
                  </a:txBody>
                  <a:tcPr anchor="ctr" marL="101600" marT="50800" marB="50800"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121"/>
                          </a:solidFill>
                        </a:rPr>
                        <a:t>Pipeline</a:t>
                      </a:r>
                    </a:p>
                  </a:txBody>
                  <a:tcPr anchor="ctr" marL="101600" marT="50800" marB="50800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</a:rPr>
                        <a:t>End-to-end latency</a:t>
                      </a:r>
                    </a:p>
                  </a:txBody>
                  <a:tcPr anchor="ctr" marL="101600" marT="50800" marB="50800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</a:rPr>
                        <a:t>Objective</a:t>
                      </a:r>
                    </a:p>
                  </a:txBody>
                  <a:tcPr anchor="ctr" marL="101600" marT="50800" marB="50800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</a:rPr>
                        <a:t>≤ 4 s</a:t>
                      </a:r>
                    </a:p>
                  </a:txBody>
                  <a:tcPr anchor="ctr" marL="101600" marT="50800" marB="50800">
                    <a:solidFill>
                      <a:srgbClr val="F4F6F6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121"/>
                          </a:solidFill>
                        </a:rPr>
                        <a:t>RVC output</a:t>
                      </a:r>
                    </a:p>
                  </a:txBody>
                  <a:tcPr anchor="ctr" marL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</a:rPr>
                        <a:t>Signal-to-noise ratio</a:t>
                      </a:r>
                    </a:p>
                  </a:txBody>
                  <a:tcPr anchor="ctr" marL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</a:rPr>
                        <a:t>Objective</a:t>
                      </a:r>
                    </a:p>
                  </a:txBody>
                  <a:tcPr anchor="ctr" marL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</a:rPr>
                        <a:t>≥ 20 dB</a:t>
                      </a:r>
                    </a:p>
                  </a:txBody>
                  <a:tcPr anchor="ctr" marL="101600" marT="50800" marB="50800"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121"/>
                          </a:solidFill>
                        </a:rPr>
                        <a:t>RVC output</a:t>
                      </a:r>
                    </a:p>
                  </a:txBody>
                  <a:tcPr anchor="ctr" marL="101600" marT="50800" marB="50800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</a:rPr>
                        <a:t>MOS naturalness (n=20)</a:t>
                      </a:r>
                    </a:p>
                  </a:txBody>
                  <a:tcPr anchor="ctr" marL="101600" marT="50800" marB="50800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</a:rPr>
                        <a:t>Subjective</a:t>
                      </a:r>
                    </a:p>
                  </a:txBody>
                  <a:tcPr anchor="ctr" marL="101600" marT="50800" marB="50800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</a:rPr>
                        <a:t>Mean ≥ 3.8</a:t>
                      </a:r>
                    </a:p>
                  </a:txBody>
                  <a:tcPr anchor="ctr" marL="101600" marT="50800" marB="50800">
                    <a:solidFill>
                      <a:srgbClr val="F4F6F6"/>
                    </a:solidFill>
                  </a:tcPr>
                </a:tc>
              </a:tr>
              <a:tr h="40495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121"/>
                          </a:solidFill>
                        </a:rPr>
                        <a:t>RVC output</a:t>
                      </a:r>
                    </a:p>
                  </a:txBody>
                  <a:tcPr anchor="ctr" marL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</a:rPr>
                        <a:t>MOS speaker similarity (n=20)</a:t>
                      </a:r>
                    </a:p>
                  </a:txBody>
                  <a:tcPr anchor="ctr" marL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</a:rPr>
                        <a:t>Subjective</a:t>
                      </a:r>
                    </a:p>
                  </a:txBody>
                  <a:tcPr anchor="ctr" marL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</a:rPr>
                        <a:t>Mean ≥ 3.5</a:t>
                      </a:r>
                    </a:p>
                  </a:txBody>
                  <a:tcPr anchor="ctr" marL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937760"/>
            <a:ext cx="11155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>
                <a:solidFill>
                  <a:srgbClr val="212121"/>
                </a:solidFill>
                <a:latin typeface="Calibri"/>
              </a:rPr>
              <a:t>•  RQ3 latency techniques: model-size selection • Colab GPU offload • streaming TTS+RVC • spoken-answer truncation.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ED6F1"/>
                </a:solidFill>
                <a:latin typeface="Calibri"/>
              </a:rPr>
              <a:t>8. EXPECTED RESULTS &amp;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What's implemented vs. remaining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D6D7E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29954"/>
                </a:solidFill>
                <a:latin typeface="Calibri"/>
              </a:rPr>
              <a:t>Implemented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3949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clone-voice-station: FastAPI voice service (STT/TTS/RVC), SQLite, manager dashboard, webhooks.</a:t>
            </a:r>
          </a:p>
          <a:p>
            <a:r>
              <a:rPr sz="1400">
                <a:solidFill>
                  <a:srgbClr val="212121"/>
                </a:solidFill>
                <a:latin typeface="Calibri"/>
              </a:rPr>
              <a:t>•  clone-voice-client: installable Python SDK.</a:t>
            </a:r>
          </a:p>
          <a:p>
            <a:r>
              <a:rPr sz="1400">
                <a:solidFill>
                  <a:srgbClr val="212121"/>
                </a:solidFill>
                <a:latin typeface="Calibri"/>
              </a:rPr>
              <a:t>•  rag-legal-assistant: mic input + cloned-voice read-aloud, via the SDK.</a:t>
            </a:r>
          </a:p>
          <a:p>
            <a:r>
              <a:rPr sz="1400">
                <a:solidFill>
                  <a:srgbClr val="212121"/>
                </a:solidFill>
                <a:latin typeface="Calibri"/>
              </a:rPr>
              <a:t>•  Colab notebook: trains &amp; serves RVC v2 + PhoWhisper end-to-end over HTTPS.</a:t>
            </a:r>
          </a:p>
          <a:p>
            <a:r>
              <a:rPr sz="1400">
                <a:solidFill>
                  <a:srgbClr val="212121"/>
                </a:solidFill>
                <a:latin typeface="Calibri"/>
              </a:rPr>
              <a:t>•  AI-disclosure watermarking + biometric-consent flow (Section 6).</a:t>
            </a:r>
          </a:p>
          <a:p>
            <a:r>
              <a:rPr sz="1400">
                <a:solidFill>
                  <a:srgbClr val="212121"/>
                </a:solidFill>
                <a:latin typeface="Calibri"/>
              </a:rPr>
              <a:t>•  2 trained RVC voice models: “TestGiong1” (male, 2026-08-05) + “GiọngNữ” (female, 2026-08-12) — both live, callable via /api/speak.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371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A6F1E"/>
                </a:solidFill>
                <a:latin typeface="Calibri"/>
              </a:rPr>
              <a:t>Remaining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83080"/>
            <a:ext cx="53949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•  Quantitative evaluation report: WER, latency, SNR, MOS vs. F5-TTS baseline.</a:t>
            </a:r>
          </a:p>
          <a:p>
            <a:r>
              <a:rPr sz="1400">
                <a:solidFill>
                  <a:srgbClr val="212121"/>
                </a:solidFill>
                <a:latin typeface="Calibri"/>
              </a:rPr>
              <a:t>•  Full thesis manuscript + short demonstration video.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A6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AD7A0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3327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750">
                <a:solidFill>
                  <a:srgbClr val="FFFFFF"/>
                </a:solidFill>
                <a:latin typeface="Calibri"/>
              </a:rPr>
              <a:t>•  A bidirectional voice loop was integrated into an existing RAG legal assistant — as an independently deployable service, not embedded code.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750">
                <a:solidFill>
                  <a:srgbClr val="FFFFFF"/>
                </a:solidFill>
                <a:latin typeface="Calibri"/>
              </a:rPr>
              <a:t>•  The service/SDK split makes RQ1's modularity claim structural: rag-legal-assistant and clone-voice-station never import each other.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750">
                <a:solidFill>
                  <a:srgbClr val="FFFFFF"/>
                </a:solidFill>
                <a:latin typeface="Calibri"/>
              </a:rPr>
              <a:t>•  TTS + per-speaker RVC will be benchmarked against a Vietnamese-tuned zero-shot baseline (RQ2) under a ≤ 4 s latency budget (RQ3).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750">
                <a:solidFill>
                  <a:srgbClr val="FFFFFF"/>
                </a:solidFill>
                <a:latin typeface="Calibri"/>
              </a:rPr>
              <a:t>•  Compliance with Vietnam's new Personal Data Protection and AI laws is built into the system, not deferred to policy.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7784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