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70" r:id="rId21"/>
    <p:sldId id="271" r:id="rId22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1.xml"/><Relationship Id="rId22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A6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AD7A0"/>
                </a:solidFill>
                <a:latin typeface="Calibri"/>
              </a:rPr>
              <a:t>MASTER OF SOFTWARE ENGINEERING — THESIS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Integrating Speech-to-Text and RVC-Based</a:t>
            </a:r>
          </a:p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Voice Conversion into an AI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FFFFF"/>
                </a:solidFill>
                <a:latin typeface="Calibri"/>
              </a:rPr>
              <a:t>Nguyen Hoang Ngoc Bao — 24MSE23204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537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AED6F1"/>
                </a:solidFill>
                <a:latin typeface="Calibri"/>
              </a:rPr>
              <a:t>Supervisor: Dr. Nguyen Xuan 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AED6F1"/>
                </a:solidFill>
                <a:latin typeface="Calibri"/>
              </a:rPr>
              <a:t>FPT University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058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1. Problem &amp; motivation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2. Research objectives and questions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3. Related work — why this combination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4. Proposed solution &amp; architecture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5. Implementation status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6. Legal &amp; ethical compliance (new VN laws)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7. Evaluation plan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8. Expected results &amp; deliverables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1. 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A text-only RAG legal assistant is a bottleneck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6035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50">
                <a:solidFill>
                  <a:srgbClr val="212121"/>
                </a:solidFill>
                <a:latin typeface="Calibri"/>
              </a:rPr>
              <a:t>•  Existing system: ChromaDB + BGE embeddings + Llama-3.1 (Groq), Vietnamese enterprise law — works, but text only.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50">
                <a:solidFill>
                  <a:srgbClr val="212121"/>
                </a:solidFill>
                <a:latin typeface="Calibri"/>
              </a:rPr>
              <a:t>•  Users must type every question and read every answer.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50">
                <a:solidFill>
                  <a:srgbClr val="212121"/>
                </a:solidFill>
                <a:latin typeface="Calibri"/>
              </a:rPr>
              <a:t>•  Typing ≈ 40 wpm vs. speech ≈ 120–150 wpm.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50">
                <a:solidFill>
                  <a:srgbClr val="212121"/>
                </a:solidFill>
                <a:latin typeface="Calibri"/>
              </a:rPr>
              <a:t>•  Long legal answers on a phone screen: high cognitive load, poor accessibility.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50">
                <a:solidFill>
                  <a:srgbClr val="212121"/>
                </a:solidFill>
                <a:latin typeface="Calibri"/>
              </a:rPr>
              <a:t>•  Natural extension: add a voice loop on both sides — ASR in, personalised TTS/RVC out.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1463040"/>
          <a:ext cx="48463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05840"/>
                <a:gridCol w="1005840"/>
                <a:gridCol w="731520"/>
              </a:tblGrid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50800" marR="50800" marT="25400" marB="25400" anchor="ctr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Typing</a:t>
                      </a:r>
                    </a:p>
                  </a:txBody>
                  <a:tcPr marL="50800" marR="50800" marT="25400" marB="25400" anchor="ctr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Dictation</a:t>
                      </a:r>
                    </a:p>
                  </a:txBody>
                  <a:tcPr marL="50800" marR="50800" marT="25400" marB="25400" anchor="ctr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Saved</a:t>
                      </a:r>
                    </a:p>
                  </a:txBody>
                  <a:tcPr marL="50800" marR="50800" marT="25400" marB="25400" anchor="ctr">
                    <a:solidFill>
                      <a:srgbClr val="1B2B3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500-word email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12.5 min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4 min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1,000-word report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25 min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8 min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2,000-word article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50 min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17 min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5,000-word document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125 min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42 min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0" y="47091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D6D7E"/>
                </a:solidFill>
                <a:latin typeface="Calibri"/>
              </a:rPr>
              <a:t>Estimated, adapted from prior speech-input productivity studies [1]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2. RESEARCH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Objectives and research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E86C1"/>
                </a:solidFill>
                <a:latin typeface="Calibri"/>
              </a:rPr>
              <a:t>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Integrate speech-to-text (PhoWhisper, local Whisper fallback) so users can ask by voice in Vietnamese.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Train a custom RVC voice-conversion model on Google Colab and integrate it into the response pipeline.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Compare TTS+RVC against a zero-shot baseline (F5-TTS-Vietnamese-ViVoice).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Evaluate on objective (latency, WER, SNR) and subjective (MOS) metrics.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37160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A6F1E"/>
                </a:solidFill>
                <a:latin typeface="Calibri"/>
              </a:rPr>
              <a:t>Research Questions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783080"/>
            <a:ext cx="685800" cy="384048"/>
          </a:xfrm>
          <a:prstGeom prst="rect">
            <a:avLst/>
          </a:prstGeom>
          <a:solidFill>
            <a:srgbClr val="CA6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783080"/>
            <a:ext cx="685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73736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12121"/>
                </a:solidFill>
                <a:latin typeface="Calibri"/>
              </a:rPr>
              <a:t>How can an RVC model trained on Colab be integrated into a production RAG assistant without rewriting the retrieval pipeline?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953512"/>
            <a:ext cx="685800" cy="384048"/>
          </a:xfrm>
          <a:prstGeom prst="rect">
            <a:avLst/>
          </a:prstGeom>
          <a:solidFill>
            <a:srgbClr val="CA6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953512"/>
            <a:ext cx="685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907792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12121"/>
                </a:solidFill>
                <a:latin typeface="Calibri"/>
              </a:rPr>
              <a:t>Does TTS + RVC outperform a zero-shot baseline (F5-TTS-Vietnamese-ViVoice) in MOS naturalness and speaker similarity?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123944"/>
            <a:ext cx="685800" cy="384048"/>
          </a:xfrm>
          <a:prstGeom prst="rect">
            <a:avLst/>
          </a:prstGeom>
          <a:solidFill>
            <a:srgbClr val="CA6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123944"/>
            <a:ext cx="685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078224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12121"/>
                </a:solidFill>
                <a:latin typeface="Calibri"/>
              </a:rPr>
              <a:t>What latency does voice add, and is it still ≤ 4 s end-to-end?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3. 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Why this combination: RVC + F5-TTS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3108960"/>
                <a:gridCol w="29260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</a:rPr>
                        <a:t>Criterion</a:t>
                      </a:r>
                    </a:p>
                  </a:txBody>
                  <a:tcPr anchor="ctr" marL="76200" marT="38100" marB="381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</a:rPr>
                        <a:t>Classical TTS</a:t>
                      </a:r>
                    </a:p>
                  </a:txBody>
                  <a:tcPr anchor="ctr" marL="76200" marT="38100" marB="381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</a:rPr>
                        <a:t>TTS + RVC (this work)</a:t>
                      </a:r>
                    </a:p>
                  </a:txBody>
                  <a:tcPr anchor="ctr" marL="76200" marT="38100" marB="381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</a:rPr>
                        <a:t>Zero-shot cloning</a:t>
                      </a:r>
                    </a:p>
                  </a:txBody>
                  <a:tcPr anchor="ctr" marL="76200" marT="38100" marB="38100">
                    <a:solidFill>
                      <a:srgbClr val="1B2B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12121"/>
                          </a:solidFill>
                        </a:rPr>
                        <a:t>Naturalness</a:t>
                      </a:r>
                    </a:p>
                  </a:txBody>
                  <a:tcPr anchor="ctr" marL="76200" marT="38100" marB="381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Robotic</a:t>
                      </a:r>
                    </a:p>
                  </a:txBody>
                  <a:tcPr anchor="ctr" marL="76200" marT="38100" marB="381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29954"/>
                          </a:solidFill>
                        </a:rPr>
                        <a:t>Natural, target timbre</a:t>
                      </a:r>
                    </a:p>
                  </a:txBody>
                  <a:tcPr anchor="ctr" marL="76200" marT="38100" marB="38100">
                    <a:solidFill>
                      <a:srgbClr val="EA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Natural, generic</a:t>
                      </a:r>
                    </a:p>
                  </a:txBody>
                  <a:tcPr anchor="ctr" marL="76200" marT="38100" marB="38100">
                    <a:solidFill>
                      <a:srgbClr val="F4F6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12121"/>
                          </a:solidFill>
                        </a:rPr>
                        <a:t>Personalisation</a:t>
                      </a:r>
                    </a:p>
                  </a:txBody>
                  <a:tcPr anchor="ctr" marL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Limited</a:t>
                      </a:r>
                    </a:p>
                  </a:txBody>
                  <a:tcPr anchor="ctr" marL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29954"/>
                          </a:solidFill>
                        </a:rPr>
                        <a:t>High (per-speaker)</a:t>
                      </a:r>
                    </a:p>
                  </a:txBody>
                  <a:tcPr anchor="ctr" marL="76200" marT="38100" marB="38100">
                    <a:solidFill>
                      <a:srgbClr val="EA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Medium (zero-shot)</a:t>
                      </a:r>
                    </a:p>
                  </a:txBody>
                  <a:tcPr anchor="ctr" marL="76200" marT="38100" marB="381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12121"/>
                          </a:solidFill>
                        </a:rPr>
                        <a:t>Training cost</a:t>
                      </a:r>
                    </a:p>
                  </a:txBody>
                  <a:tcPr anchor="ctr" marL="76200" marT="38100" marB="381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None</a:t>
                      </a:r>
                    </a:p>
                  </a:txBody>
                  <a:tcPr anchor="ctr" marL="76200" marT="38100" marB="381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29954"/>
                          </a:solidFill>
                        </a:rPr>
                        <a:t>10–30 min (Colab)</a:t>
                      </a:r>
                    </a:p>
                  </a:txBody>
                  <a:tcPr anchor="ctr" marL="76200" marT="38100" marB="38100">
                    <a:solidFill>
                      <a:srgbClr val="EA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None</a:t>
                      </a:r>
                    </a:p>
                  </a:txBody>
                  <a:tcPr anchor="ctr" marL="76200" marT="38100" marB="38100">
                    <a:solidFill>
                      <a:srgbClr val="F4F6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12121"/>
                          </a:solidFill>
                        </a:rPr>
                        <a:t>Latency (CPU)</a:t>
                      </a:r>
                    </a:p>
                  </a:txBody>
                  <a:tcPr anchor="ctr" marL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≈ 0.5 s/sentence</a:t>
                      </a:r>
                    </a:p>
                  </a:txBody>
                  <a:tcPr anchor="ctr" marL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29954"/>
                          </a:solidFill>
                        </a:rPr>
                        <a:t>≈ 1.5 s/sentence</a:t>
                      </a:r>
                    </a:p>
                  </a:txBody>
                  <a:tcPr anchor="ctr" marL="76200" marT="38100" marB="38100">
                    <a:solidFill>
                      <a:srgbClr val="EA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≈ 1.0 s/sentence</a:t>
                      </a:r>
                    </a:p>
                  </a:txBody>
                  <a:tcPr anchor="ctr" marL="762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886200"/>
            <a:ext cx="11155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RVC v2 (HuBERT + HiFi-GAN + FAISS): best timbre when ≈ 10 min of reference data is available; the per-speaker training step is itself an evaluation point — does it beat zero-shot cloning?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F5-TTS-Vietnamese-ViVoice chosen as baseline over XTTS-v2 / OpenVoice: already fine-tuned on Vietnamese speech → fairer comparison on a Vietnamese-only legal test set.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ASR: PhoWhisper (VinAI, 17–24% relative WER reduction over multilingual Whisper on Vietnamese) as primary, local Whisper-small as offline fallback.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4.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A bidirectional voice loop, built as a separate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E86C1"/>
                </a:solidFill>
                <a:latin typeface="Calibri"/>
              </a:rPr>
              <a:t>Input 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3035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Browser mic records the question.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Sent to clone-voice-station → transcribed by PhoWhisper (Whisper fallback).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Resulting text forwarded to rag-legal-assistant's existing RAG pipeline, 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A6F1E"/>
                </a:solidFill>
                <a:latin typeface="Calibri"/>
              </a:rPr>
              <a:t>Output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LLM answer text → edge-TTS base Vietnamese WAV.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Re-voiced with the user's trained RVC model.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Prefixed with an AI-disclosure notice + provenance watermark.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Streamed back to the browser as playable audio.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343400"/>
            <a:ext cx="11155680" cy="141732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262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 i="1">
                <a:solidFill>
                  <a:srgbClr val="1B2B3A"/>
                </a:solidFill>
                <a:latin typeface="Calibri"/>
              </a:rPr>
              <a:t>Voice features are opt-in — the assistant degrades gracefully to text-only mode, and clone-voice-station itself falls back to plain TTS whenever the Colab-hosted RVC/PhoWhisper session is offline.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4.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High-level pipeline (6 measurable stages)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igure1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11155680" cy="39999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722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5D6D7E"/>
                </a:solidFill>
                <a:latin typeface="Calibri"/>
              </a:rPr>
              <a:t>Figure 1: LLM and RAG are surfaced as separate, independently benchmarkable sub-components.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4.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Software architecture — 3 independent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figure2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5" y="1234440"/>
            <a:ext cx="8372698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5D6D7E"/>
                </a:solidFill>
                <a:latin typeface="Calibri"/>
              </a:rPr>
              <a:t>rag-legal-assistant ↔ clone-voice-client SDK ↔ clone-voice-station ↔ Colab (PhoWhisper / F5-TTS / RVC v2)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4.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1560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138160"/>
              </a:tblGrid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 anchor="ctr" marL="101600" marT="50800" marB="508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Technology</a:t>
                      </a:r>
                    </a:p>
                  </a:txBody>
                  <a:tcPr anchor="ctr" marL="101600" marT="50800" marB="50800">
                    <a:solidFill>
                      <a:srgbClr val="1B2B3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Application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FastAPI, Starlette, Jinja2, vanilla JS, MediaRecorder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LLM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Meta Llama-3.1-8B-Instant via Groq API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RAG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LangChain, BGE-small-en-v1.5, ChromaDB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ASR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PhoWhisper-large (Colab, primary) / Whisper-small (local fallback)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TTS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edge-TTS — vi-VN-HoaiMyNeural / vi-VN-NamMinhNeural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RVC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RVC v2 — HuBERT + HiFi-GAN + FAISS, trained on Colab T4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Baseline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F5-TTS-Vietnamese-ViVoice (zero-shot, RQ2 comparison)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Voice architecture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clone-voice-station (FastAPI, SQLite, API-key) + clone-voice-client (SDK)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Compliance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Spoken AI-disclosure prefix + WAV provenance watermark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5. 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Four of five stages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384048" cy="384048"/>
          </a:xfrm>
          <a:prstGeom prst="rect">
            <a:avLst/>
          </a:prstGeom>
          <a:solidFill>
            <a:srgbClr val="229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81328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12121"/>
                </a:solidFill>
                <a:latin typeface="Calibri"/>
              </a:rPr>
              <a:t>Voice dataset preparation — 8 scripts + browser recording 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66544"/>
            <a:ext cx="384048" cy="384048"/>
          </a:xfrm>
          <a:prstGeom prst="rect">
            <a:avLst/>
          </a:prstGeom>
          <a:solidFill>
            <a:srgbClr val="229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665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084832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12121"/>
                </a:solidFill>
                <a:latin typeface="Calibri"/>
              </a:rPr>
              <a:t>RVC training on Colab — F0/RMVPE, RVC v2, FAISS index, export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670048"/>
            <a:ext cx="384048" cy="384048"/>
          </a:xfrm>
          <a:prstGeom prst="rect">
            <a:avLst/>
          </a:prstGeom>
          <a:solidFill>
            <a:srgbClr val="229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6700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688336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12121"/>
                </a:solidFill>
                <a:latin typeface="Calibri"/>
              </a:rPr>
              <a:t>Backend integration — /api/transcribe, /api/speak, SDK adapter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273552"/>
            <a:ext cx="384048" cy="384048"/>
          </a:xfrm>
          <a:prstGeom prst="rect">
            <a:avLst/>
          </a:prstGeom>
          <a:solidFill>
            <a:srgbClr val="229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27355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91840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12121"/>
                </a:solidFill>
                <a:latin typeface="Calibri"/>
              </a:rPr>
              <a:t>Frontend integration — mic button + voice-output toggle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77056"/>
            <a:ext cx="384048" cy="384048"/>
          </a:xfrm>
          <a:prstGeom prst="rect">
            <a:avLst/>
          </a:prstGeom>
          <a:solidFill>
            <a:srgbClr val="CA6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87705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95344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12121"/>
                </a:solidFill>
                <a:latin typeface="Calibri"/>
              </a:rPr>
              <a:t>Evaluation &amp; write-up — metrics, MOS survey, manuscript</a:t>
            </a:r>
          </a:p>
        </p:txBody>
      </p:sp>
      <p:pic>
        <p:nvPicPr>
          <p:cNvPr id="21" name="Picture 20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480560"/>
            <a:ext cx="11155680" cy="159781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5. 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Post-submission update — voice reliability &amp; live transcription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E86C1"/>
                </a:solidFill>
                <a:latin typeface="Calibri"/>
              </a:rPr>
              <a:t>Voice-service reliability fix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3035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Diagnosed: clone-voice-station wasn't running, so profile lookups silently returned an empty list.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Added GET /voice/status (VoiceStationClient.is_available()) so the UI can tell “no voices yet” from “service is down”.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Added start_all.bat to launch clone-voice-station then rag-legal-assistant together, health-checked.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A6F1E"/>
                </a:solidFill>
                <a:latin typeface="Calibri"/>
              </a:rPr>
              <a:t>Live speech-to-text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MediaRecorder now captures audio in 500 ms chunks instead of one shot.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Every 2.5 s the growing recording is re-sent to /voice/transcribe.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Chat input updates live while the user keeps speaking; the user's own edits are never overwritten.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Final authoritative transcription still runs when the user clicks stop.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343400"/>
            <a:ext cx="11155680" cy="141732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262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 i="1">
                <a:solidFill>
                  <a:srgbClr val="1B2B3A"/>
                </a:solidFill>
                <a:latin typeface="Calibri"/>
              </a:rPr>
              <a:t>Both fixes ship at the frontend/integration layer only — no changes were needed to clone-voice-station's API surface, matching the split-service architecture's design goal of independent iteration.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5. 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STT Lab Tier 2 — adapter-acceptance gate for self-serve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E86C1"/>
                </a:solidFill>
                <a:latin typeface="Calibri"/>
              </a:rPr>
              <a:t>Validation-gate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3035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Naive training (always shipping the last epoch) let a 458-sample medical import measurably worsen recognition: 62.8% WER vs the untrained model’s own 32.0% on the same held-out audio.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First fix (score a held-out split, reject unless it beats the base model) was itself fooled: the same split picked the best epoch and judged accept/reject, so an adapter it accepted as “+9–15pp better” still lost by 20–27pp on a genuinely independent 30-file eval set, twice.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Root cause: any split carved from one guest’s own upload batch shares that batch’s recording session/speaker/domain characteristics, regardless of split ratio or size (confirmed from 13% to 25% held-out, up to 60 samples).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A6F1E"/>
                </a:solidFill>
                <a:latin typeface="Calibri"/>
              </a:rPr>
              <a:t>Three-gate 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Gate 0/Gate 1: split the held-out portion in two — an early-stopping set (never used for accept/reject) and a final-gate set (never used to pick the epoch) — removes the double-dipping bias.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Gate 2: score every adapter against a fixed 500-clip general-Vietnamese benchmark (doof-ferb/vlsp2020_vinai_100h) no guest’s upload ever touches — catches regressions Gate 1 structurally cannot see.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Validated on a real case: a 60-sample medical adapter cleared Gate 1 (52.0% vs 60.2% base on its own domain) but was correctly rejected by Gate 2 (47.6% vs 44.4% base on general Vietnamese).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Across every configuration tested so far (60–250 samples, LoRA rank 8–16), no Tier 2 adapter has yet beaten the base model on genuinely independent domain data — the three-gate pipeline guarantees none of them ship regardless.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343400"/>
            <a:ext cx="11155680" cy="141732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262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 i="1">
                <a:solidFill>
                  <a:srgbClr val="1B2B3A"/>
                </a:solidFill>
                <a:latin typeface="Calibri"/>
              </a:rPr>
              <a:t>The finding reframes Tier 2’s contribution: not yet a proven quality improvement over base Whisper, but a self-serve fine-tuning pipeline that is provably safe to expose publicly — it never ships a regression, even when the underlying adapter doesn’t help.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6. LEGAL &amp; ETHICAL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Two Vietnamese laws that took effect during this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5394960" cy="594360"/>
          </a:xfrm>
          <a:prstGeom prst="rect">
            <a:avLst/>
          </a:prstGeom>
          <a:solidFill>
            <a:srgbClr val="FD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CA6F1E"/>
                </a:solidFill>
                <a:latin typeface="Calibri"/>
              </a:rPr>
              <a:t>Law 91/2025/QH15 — Personal Data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40280"/>
            <a:ext cx="53949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Voice sample + trained RVC model = biometric data.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Consent screen names biometric use + cross-border transfer to Colab.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Every profile/sample/model deletable on demand.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Data scoped per client app + per external_user_id in the 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463040"/>
            <a:ext cx="5394960" cy="59436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53619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2E86C1"/>
                </a:solidFill>
                <a:latin typeface="Calibri"/>
              </a:rPr>
              <a:t>Law 134/2025/QH15 — Artificial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240280"/>
            <a:ext cx="53949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AI-generated voice must carry a spoken disclosure notice + watermark.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clone-voice-station prefixes every RVC-cloned response with a Vietnamese disclosure clip.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Exported WAV carries a provenance tag in its metadata.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Builtin (non-cloned) voices are exempt — no real-person impersonation.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7. EVALUATION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Objective + subjective metrics per pipeline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1">
                <a:solidFill>
                  <a:srgbClr val="5D6D7E"/>
                </a:solidFill>
                <a:latin typeface="Calibri"/>
              </a:rPr>
              <a:t>Fixed test set: 30 Vietnamese legal questions with expert-curated reference answers.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828800"/>
          <a:ext cx="111556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2194560"/>
                <a:gridCol w="2743200"/>
              </a:tblGrid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 anchor="ctr" marL="101600" marT="50800" marB="508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anchor="ctr" marL="101600" marT="50800" marB="508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anchor="ctr" marL="101600" marT="50800" marB="508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Threshold</a:t>
                      </a:r>
                    </a:p>
                  </a:txBody>
                  <a:tcPr anchor="ctr" marL="101600" marT="50800" marB="50800">
                    <a:solidFill>
                      <a:srgbClr val="1B2B3A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121"/>
                          </a:solidFill>
                        </a:rPr>
                        <a:t>ASR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Word Error Rate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Objective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≤ 15%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121"/>
                          </a:solidFill>
                        </a:rPr>
                        <a:t>LLM + RAG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Faithfulness (Likert)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Subjective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Mean ≥ 4.0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121"/>
                          </a:solidFill>
                        </a:rPr>
                        <a:t>Pipeline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End-to-end latency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Objective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≤ 4 s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121"/>
                          </a:solidFill>
                        </a:rPr>
                        <a:t>RVC output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Signal-to-noise ratio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Objective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≥ 20 dB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121"/>
                          </a:solidFill>
                        </a:rPr>
                        <a:t>RVC output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MOS naturalness (n=20)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Subjective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Mean ≥ 3.8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40495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121"/>
                          </a:solidFill>
                        </a:rPr>
                        <a:t>RVC output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MOS speaker similarity (n=20)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Subjective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Mean ≥ 3.5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937760"/>
            <a:ext cx="11155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RQ3 latency techniques: model-size selection • Colab GPU offload • streaming TTS+RVC • spoken-answer truncation.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8. EXPECTED RESULTS &amp;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What's implemented vs. remaining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9954"/>
                </a:solidFill>
                <a:latin typeface="Calibri"/>
              </a:rPr>
              <a:t>Implemented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clone-voice-station: FastAPI voice service (STT/TTS/RVC), SQLite, manager dashboard, webhooks.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clone-voice-client: installable Python SDK.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rag-legal-assistant: mic input + cloned-voice read-aloud, via the SDK.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Colab notebook: trains &amp; serves RVC v2 + PhoWhisper end-to-end over HTTPS.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AI-disclosure watermarking + biometric-consent flow (Section 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A6F1E"/>
                </a:solidFill>
                <a:latin typeface="Calibri"/>
              </a:rPr>
              <a:t>Remaining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At least 2 trained RVC voice models (1 female, 1 male speaker).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Quantitative evaluation report: WER, latency, SNR, MOS vs. F5-TTS baseline.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Full thesis manuscript + short demonstration video.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A6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AD7A0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33272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750">
                <a:solidFill>
                  <a:srgbClr val="FFFFFF"/>
                </a:solidFill>
                <a:latin typeface="Calibri"/>
              </a:rPr>
              <a:t>•  A bidirectional voice loop was integrated into an existing RAG legal assistant — as an independently deployable service, not embedded code.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750">
                <a:solidFill>
                  <a:srgbClr val="FFFFFF"/>
                </a:solidFill>
                <a:latin typeface="Calibri"/>
              </a:rPr>
              <a:t>•  The service/SDK split makes RQ1's modularity claim structural: rag-legal-assistant and clone-voice-station never import each other.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750">
                <a:solidFill>
                  <a:srgbClr val="FFFFFF"/>
                </a:solidFill>
                <a:latin typeface="Calibri"/>
              </a:rPr>
              <a:t>•  TTS + per-speaker RVC will be benchmarked against a Vietnamese-tuned zero-shot baseline (RQ2) under a ≤ 4 s latency budget (RQ3).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750">
                <a:solidFill>
                  <a:srgbClr val="FFFFFF"/>
                </a:solidFill>
                <a:latin typeface="Calibri"/>
              </a:rPr>
              <a:t>•  Compliance with Vietnam's new Personal Data Protection and AI laws is built into the system, not deferred to policy.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